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731520" cy="731520"/>
          </a:xfrm>
          <a:prstGeom prst="rect">
            <a:avLst/>
          </a:prstGeom>
          <a:solidFill>
            <a:srgbClr val="1F2F27"/>
          </a:solidFill>
          <a:ln>
            <a:solidFill>
              <a:srgbClr val="A8E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731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A8E06D"/>
                </a:solidFill>
                <a:latin typeface="Consolas"/>
              </a:rPr>
              <a:t>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8046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D6C7"/>
                </a:solidFill>
                <a:latin typeface="Consolas"/>
              </a:rPr>
              <a:t>CYBERSECURITY COLLEGE PROJECT  /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6888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>
                <a:solidFill>
                  <a:srgbClr val="EAF1EB"/>
                </a:solidFill>
                <a:latin typeface="Aptos"/>
              </a:rPr>
              <a:t>DarkTrace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832104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8E06D"/>
                </a:solidFill>
                <a:latin typeface="Aptos"/>
              </a:rPr>
              <a:t>Simulated Dark-Web Threat Intelligence
&amp; Security Monitoring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75488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A safe, local demonstration of detection, risk, and response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080760"/>
            <a:ext cx="8046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AEA2"/>
                </a:solidFill>
                <a:latin typeface="Consolas"/>
              </a:rPr>
              <a:t>FLASK  ·  MYSQL  ·  CHART.JS  ·  THREE.JS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1508760"/>
            <a:ext cx="2423160" cy="2423160"/>
          </a:xfrm>
          <a:prstGeom prst="ellipse">
            <a:avLst/>
          </a:prstGeom>
          <a:noFill/>
          <a:ln w="19050"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103120"/>
            <a:ext cx="1234440" cy="1234440"/>
          </a:xfrm>
          <a:prstGeom prst="ellipse">
            <a:avLst/>
          </a:prstGeom>
          <a:solidFill>
            <a:srgbClr val="1F2F27"/>
          </a:solidFill>
          <a:ln>
            <a:solidFill>
              <a:srgbClr val="A8E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3728" y="2450592"/>
            <a:ext cx="10058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8E06D"/>
                </a:solidFill>
                <a:latin typeface="Consolas"/>
              </a:rPr>
              <a:t>LOCAL
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01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Problem, objectives, 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429000" cy="320040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54864" cy="3200400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3017520" cy="2432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Security teams need a repeatable way to collect observations, prioritize risk, share findings, and track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29000" cy="320040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4864" cy="3200400"/>
          </a:xfrm>
          <a:prstGeom prst="rect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67712"/>
            <a:ext cx="3017520" cy="2432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CAEA2"/>
                </a:solidFill>
                <a:latin typeface="Aptos"/>
              </a:rPr>
              <a:t>Connect the single Admin, MySQL records, risk scores, alerts, response actions, and visual reporting in a testable local app.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3429000" cy="320040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45920"/>
            <a:ext cx="54864" cy="3200400"/>
          </a:xfrm>
          <a:prstGeom prst="rect">
            <a:avLst/>
          </a:prstGeom>
          <a:solidFill>
            <a:srgbClr val="EFB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Safety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67712"/>
            <a:ext cx="3017520" cy="2432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Use fictional signals and account-only controls. No external dark-web access, threat feeds, or network blocking.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5156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CAEA2"/>
                </a:solidFill>
                <a:latin typeface="Consolas"/>
              </a:rPr>
              <a:t>ABSTRACT  /  A local simulation of the event-to-alert-to-response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02 /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System architecture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65960" cy="1417320"/>
          </a:xfrm>
          <a:prstGeom prst="rect">
            <a:avLst/>
          </a:prstGeom>
          <a:solidFill>
            <a:srgbClr val="1B2520"/>
          </a:solidFill>
          <a:ln>
            <a:solidFill>
              <a:srgbClr val="70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16916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0D6C7"/>
                </a:solidFill>
                <a:latin typeface="Aptos"/>
              </a:rPr>
              <a:t>Browser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16916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CAEA2"/>
                </a:solidFill>
                <a:latin typeface="Aptos"/>
              </a:rPr>
              <a:t>HTML · CSS
Chart.js · Three.js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148840"/>
            <a:ext cx="1965960" cy="1417320"/>
          </a:xfrm>
          <a:prstGeom prst="rect">
            <a:avLst/>
          </a:prstGeom>
          <a:solidFill>
            <a:srgbClr val="1B2520"/>
          </a:solidFill>
          <a:ln>
            <a:solidFill>
              <a:srgbClr val="A8E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395728"/>
            <a:ext cx="16916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A8E06D"/>
                </a:solidFill>
                <a:latin typeface="Aptos"/>
              </a:rP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16352"/>
            <a:ext cx="16916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CAEA2"/>
                </a:solidFill>
                <a:latin typeface="Aptos"/>
              </a:rPr>
              <a:t>Routes · sessions
validation · CSRF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2148840"/>
            <a:ext cx="1965960" cy="1417320"/>
          </a:xfrm>
          <a:prstGeom prst="rect">
            <a:avLst/>
          </a:prstGeom>
          <a:solidFill>
            <a:srgbClr val="1B2520"/>
          </a:solidFill>
          <a:ln>
            <a:solidFill>
              <a:srgbClr val="EFB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395728"/>
            <a:ext cx="16916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FB965"/>
                </a:solidFill>
                <a:latin typeface="Aptos"/>
              </a:rPr>
              <a:t>Security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816352"/>
            <a:ext cx="16916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CAEA2"/>
                </a:solidFill>
                <a:latin typeface="Aptos"/>
              </a:rPr>
              <a:t>Scoring · alerts
blocks · audit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48840"/>
            <a:ext cx="1965960" cy="1417320"/>
          </a:xfrm>
          <a:prstGeom prst="rect">
            <a:avLst/>
          </a:prstGeom>
          <a:solidFill>
            <a:srgbClr val="1B2520"/>
          </a:solidFill>
          <a:ln>
            <a:solidFill>
              <a:srgbClr val="F2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395728"/>
            <a:ext cx="16916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27969"/>
                </a:solidFill>
                <a:latin typeface="Aptos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16352"/>
            <a:ext cx="16916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CAEA2"/>
                </a:solidFill>
                <a:latin typeface="Aptos"/>
              </a:rPr>
              <a:t>SQLAlchemy · PyMySQL
local darktrace 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2852928"/>
            <a:ext cx="301752" cy="0"/>
          </a:xfrm>
          <a:prstGeom prst="line">
            <a:avLst/>
          </a:prstGeom>
          <a:ln w="25400">
            <a:solidFill>
              <a:srgbClr val="A8E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9200" y="2852928"/>
            <a:ext cx="438912" cy="0"/>
          </a:xfrm>
          <a:prstGeom prst="line">
            <a:avLst/>
          </a:prstGeom>
          <a:ln w="25400">
            <a:solidFill>
              <a:srgbClr val="A8E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2852928"/>
            <a:ext cx="667513" cy="0"/>
          </a:xfrm>
          <a:prstGeom prst="line">
            <a:avLst/>
          </a:prstGeom>
          <a:ln w="25400">
            <a:solidFill>
              <a:srgbClr val="A8E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38912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EAF1EB"/>
                </a:solidFill>
                <a:latin typeface="Aptos"/>
              </a:rPr>
              <a:t>MySQL stores the Admin, monitored identities, events, alerts, communities, posts, and reports.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70D6C7"/>
                </a:solidFill>
                <a:latin typeface="Aptos"/>
              </a:rPr>
              <a:t>Local Chart.js renders metrics · Three.js adds a decorative network · canvas shows entity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CAEA2"/>
                </a:solidFill>
                <a:latin typeface="Aptos"/>
              </a:rPr>
              <a:t>No crawler, external feed, or production network control is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03 /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Risk scoring and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04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874519"/>
            <a:ext cx="475488" cy="475488"/>
          </a:xfrm>
          <a:prstGeom prst="ellipse">
            <a:avLst/>
          </a:prstGeom>
          <a:solidFill>
            <a:srgbClr val="1F2F27"/>
          </a:solidFill>
          <a:ln>
            <a:solidFill>
              <a:srgbClr val="70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7548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0D6C7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5087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F1EB"/>
                </a:solidFill>
                <a:latin typeface="Aptos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Aptos"/>
              </a:rPr>
              <a:t>Synthetic event is recorded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112264"/>
            <a:ext cx="1033272" cy="0"/>
          </a:xfrm>
          <a:prstGeom prst="line">
            <a:avLst/>
          </a:prstGeom>
          <a:ln w="25400">
            <a:solidFill>
              <a:srgbClr val="3D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74720" y="1874519"/>
            <a:ext cx="475488" cy="475488"/>
          </a:xfrm>
          <a:prstGeom prst="ellipse">
            <a:avLst/>
          </a:prstGeom>
          <a:solidFill>
            <a:srgbClr val="1F2F27"/>
          </a:solidFill>
          <a:ln>
            <a:solidFill>
              <a:srgbClr val="A8E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47548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A8E06D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5087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F1EB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Aptos"/>
              </a:rPr>
              <a:t>Check login/action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112264"/>
            <a:ext cx="1033271" cy="0"/>
          </a:xfrm>
          <a:prstGeom prst="line">
            <a:avLst/>
          </a:prstGeom>
          <a:ln w="25400">
            <a:solidFill>
              <a:srgbClr val="3D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69280" y="1874519"/>
            <a:ext cx="475488" cy="475488"/>
          </a:xfrm>
          <a:prstGeom prst="ellipse">
            <a:avLst/>
          </a:prstGeom>
          <a:solidFill>
            <a:srgbClr val="1F2F27"/>
          </a:solidFill>
          <a:ln>
            <a:solidFill>
              <a:srgbClr val="EFB9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011680"/>
            <a:ext cx="47548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FB965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606040"/>
            <a:ext cx="15087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F1EB"/>
                </a:solidFill>
                <a:latin typeface="Aptos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Aptos"/>
              </a:rPr>
              <a:t>Bounded 0–100 risk band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2112264"/>
            <a:ext cx="1033272" cy="0"/>
          </a:xfrm>
          <a:prstGeom prst="line">
            <a:avLst/>
          </a:prstGeom>
          <a:ln w="25400">
            <a:solidFill>
              <a:srgbClr val="3D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863840" y="1874519"/>
            <a:ext cx="475488" cy="475488"/>
          </a:xfrm>
          <a:prstGeom prst="ellipse">
            <a:avLst/>
          </a:prstGeom>
          <a:solidFill>
            <a:srgbClr val="1F2F27"/>
          </a:solidFill>
          <a:ln>
            <a:solidFill>
              <a:srgbClr val="F2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011680"/>
            <a:ext cx="47548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27969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06040"/>
            <a:ext cx="15087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F1EB"/>
                </a:solidFill>
                <a:latin typeface="Aptos"/>
              </a:rP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Aptos"/>
              </a:rPr>
              <a:t>Persist event and Admin alert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2112264"/>
            <a:ext cx="1033272" cy="0"/>
          </a:xfrm>
          <a:prstGeom prst="line">
            <a:avLst/>
          </a:prstGeom>
          <a:ln w="25400">
            <a:solidFill>
              <a:srgbClr val="3D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058400" y="1874519"/>
            <a:ext cx="475488" cy="475488"/>
          </a:xfrm>
          <a:prstGeom prst="ellipse">
            <a:avLst/>
          </a:prstGeom>
          <a:solidFill>
            <a:srgbClr val="1F2F27"/>
          </a:solidFill>
          <a:ln>
            <a:solidFill>
              <a:srgbClr val="A8E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011680"/>
            <a:ext cx="475488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A8E06D"/>
                </a:solidFill>
                <a:latin typeface="Consola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06040"/>
            <a:ext cx="15087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F1EB"/>
                </a:solidFill>
                <a:latin typeface="Aptos"/>
              </a:rPr>
              <a:t>Respond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063240"/>
            <a:ext cx="182880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Aptos"/>
              </a:rPr>
              <a:t>Threshold block expires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1024128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8E06D"/>
                </a:solidFill>
                <a:latin typeface="Aptos"/>
              </a:rPr>
              <a:t>Risk bands: 0–29 Low · 30–59 Medium · 60–79 High · 80–100 Critical. Threshold and expiry are configurable.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04 /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Admin dashboard and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892040" cy="384048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3840480"/>
          </a:xfrm>
          <a:prstGeom prst="rect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20"/>
            <a:ext cx="4480559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4480559" cy="30723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9CAEA2"/>
                </a:solidFill>
                <a:latin typeface="Aptos"/>
              </a:rPr>
              <a:t>• Eight security overview metrics
• Login and alert activity
• Suspicious-identity review
• Four Chart.js visualizations
• User/community/post/report graph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91640"/>
            <a:ext cx="4892040" cy="384048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691640"/>
            <a:ext cx="54864" cy="3840480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20"/>
            <a:ext cx="4480559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13432"/>
            <a:ext cx="4480559" cy="30723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• Force session-generation change
• Apply or clear temporary blocks
• Suspend or activate identities
• Review and acknowledge alerts
• Update fictional report workflow
• Audit every admin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CAEA2"/>
                </a:solidFill>
                <a:latin typeface="Consolas"/>
              </a:rPr>
              <a:t>Exactly one Admin signs in; monitored identities have no passwords or login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05 /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Security controls in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Admin credentials are environment-configured; passwords are hashed.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86584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76856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HttpOnly/SameSite sessions and session generations protect sign-in.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17520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07791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CSRF tokens and server-side validation protect browser actions.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48456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38728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SQLAlchemy parameter binding and Jinja escaping protect inputs.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279392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9663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Audit rows track block, unblock, suspend, report, and alert actions.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910328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00600"/>
            <a:ext cx="10241280" cy="5852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Timed blocks affect local demo records, never IPs or network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06 /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Live demonstration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Sign in as the single Admin; review dashboard metrics and charts.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68296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58568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Open the suspicious queue and inspect one fictional identity.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26664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16936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Add a synthetic community event and observe its score and alert.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85032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Review the generated temporary block and countdown.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343400"/>
            <a:ext cx="100584" cy="100584"/>
          </a:xfrm>
          <a:prstGeom prst="ellipse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33672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Unblock or suspend the identity; verify the audit entry.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01768"/>
            <a:ext cx="100584" cy="100584"/>
          </a:xfrm>
          <a:prstGeom prst="ellipse">
            <a:avLst/>
          </a:prstGeom>
          <a:solidFill>
            <a:srgbClr val="70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1024128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AF1EB"/>
                </a:solidFill>
                <a:latin typeface="Aptos"/>
              </a:rPr>
              <a:t>Update a report and inspect the four-entity relationship 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3327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FB965"/>
                </a:solidFill>
                <a:latin typeface="Consolas"/>
              </a:rPr>
              <a:t>Admin login values are read from the private local .env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8E06D"/>
                </a:solidFill>
                <a:latin typeface="Consolas"/>
              </a:rPr>
              <a:t>07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AF1EB"/>
                </a:solidFill>
                <a:latin typeface="Aptos"/>
              </a:rPr>
              <a:t>Validation, limits,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473952"/>
            <a:ext cx="17373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9CAEA2"/>
                </a:solidFill>
                <a:latin typeface="Consolas"/>
              </a:rPr>
              <a:t>DARKTRACE  / 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4892040" cy="342900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4864" cy="3429000"/>
          </a:xfrm>
          <a:prstGeom prst="rect">
            <a:avLst/>
          </a:prstGeom>
          <a:solidFill>
            <a:srgbClr val="A8E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480559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Verified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4480559" cy="2660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Tests cover single-admin auth, protected routes, seed volumes, risk threshold blocks, expiry/unblock audit, reports, and failed sign-in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737360"/>
            <a:ext cx="4892040" cy="3429000"/>
          </a:xfrm>
          <a:prstGeom prst="rect">
            <a:avLst/>
          </a:prstGeom>
          <a:solidFill>
            <a:srgbClr val="1B2520"/>
          </a:solidFill>
          <a:ln>
            <a:solidFill>
              <a:srgbClr val="3D4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737360"/>
            <a:ext cx="54864" cy="3429000"/>
          </a:xfrm>
          <a:prstGeom prst="rect">
            <a:avLst/>
          </a:prstGeom>
          <a:solidFill>
            <a:srgbClr val="EFB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480559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F1EB"/>
                </a:solidFill>
                <a:latin typeface="Aptos"/>
              </a:rPr>
              <a:t>Limits and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59152"/>
            <a:ext cx="4480559" cy="26609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CAEA2"/>
                </a:solidFill>
                <a:latin typeface="Aptos"/>
              </a:rPr>
              <a:t>Rules can miss context and create false positives. Data is fictional; visual libraries are local. DarkTrace demonstrates defensive workflows, not production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0D6C7"/>
                </a:solidFill>
                <a:latin typeface="Consolas"/>
              </a:rPr>
              <a:t>Run:  python -m unittest discover -s tests -v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